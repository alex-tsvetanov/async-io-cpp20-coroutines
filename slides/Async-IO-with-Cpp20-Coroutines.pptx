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</p:sldIdLst>
  <p:sldSz cx="12192000" cy="6858000"/>
  <p:notesSz cx="6858000" cy="9144000"/>
  <p:embeddedFontLst>
    <p:embeddedFont>
      <p:font typeface="Montserrat" panose="00000500000000000000" pitchFamily="2" charset="0"/>
      <p:regular r:id="rId30"/>
    </p:embeddedFont>
    <p:embeddedFont>
      <p:font typeface="Montserrat Medium" panose="00000600000000000000" pitchFamily="2" charset="0"/>
      <p:regular r:id="rId31"/>
    </p:embeddedFont>
    <p:embeddedFont>
      <p:font typeface="Segoe UI Emoji" panose="020B0502040204020203" pitchFamily="34" charset="0"/>
      <p:regular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jh536j3BNdpsdm2gvAZBLOh6CY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53906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14444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0662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87490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0400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5624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31841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05466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1061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24599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5833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6701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816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53520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041277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47516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79361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77716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96738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2621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711720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885571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187428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588489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90583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2223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1517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Slide">
  <p:cSld name="Headlin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6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;p6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sp>
        <p:nvSpPr>
          <p:cNvPr id="9" name="Google Shape;9;p6"/>
          <p:cNvSpPr txBox="1"/>
          <p:nvPr/>
        </p:nvSpPr>
        <p:spPr>
          <a:xfrm>
            <a:off x="1354138" y="3035656"/>
            <a:ext cx="948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" name="Google Shape;10;p6"/>
          <p:cNvSpPr txBox="1"/>
          <p:nvPr/>
        </p:nvSpPr>
        <p:spPr>
          <a:xfrm>
            <a:off x="1354138" y="4341762"/>
            <a:ext cx="9483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;p6"/>
          <p:cNvSpPr txBox="1"/>
          <p:nvPr/>
        </p:nvSpPr>
        <p:spPr>
          <a:xfrm>
            <a:off x="3189344" y="1823307"/>
            <a:ext cx="3154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" name="Google Shape;12;p6"/>
          <p:cNvSpPr txBox="1"/>
          <p:nvPr/>
        </p:nvSpPr>
        <p:spPr>
          <a:xfrm>
            <a:off x="3189396" y="2145049"/>
            <a:ext cx="3873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 txBox="1">
            <a:spLocks noGrp="1"/>
          </p:cNvSpPr>
          <p:nvPr>
            <p:ph type="body" idx="1"/>
          </p:nvPr>
        </p:nvSpPr>
        <p:spPr>
          <a:xfrm>
            <a:off x="1354138" y="3035656"/>
            <a:ext cx="948372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body" idx="2"/>
          </p:nvPr>
        </p:nvSpPr>
        <p:spPr>
          <a:xfrm>
            <a:off x="1354138" y="4341762"/>
            <a:ext cx="94837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None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3"/>
          </p:nvPr>
        </p:nvSpPr>
        <p:spPr>
          <a:xfrm>
            <a:off x="3189344" y="1823307"/>
            <a:ext cx="3154362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4"/>
          </p:nvPr>
        </p:nvSpPr>
        <p:spPr>
          <a:xfrm>
            <a:off x="3189396" y="2145049"/>
            <a:ext cx="3873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000"/>
              <a:buFont typeface="Montserrat"/>
              <a:buNone/>
              <a:defRPr sz="1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>
            <a:spLocks noGrp="1"/>
          </p:cNvSpPr>
          <p:nvPr>
            <p:ph type="pic" idx="5"/>
          </p:nvPr>
        </p:nvSpPr>
        <p:spPr>
          <a:xfrm>
            <a:off x="1382703" y="1344842"/>
            <a:ext cx="1488000" cy="14154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bg-BG"/>
          </a:p>
        </p:txBody>
      </p:sp>
      <p:pic>
        <p:nvPicPr>
          <p:cNvPr id="19" name="Google Shape;19;p6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" name="Google Shape;2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6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6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6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Slide 1">
  <p:cSld name="Headline Slid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dd5d6240d7_1_18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g2dd5d6240d7_1_18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sp>
        <p:nvSpPr>
          <p:cNvPr id="27" name="Google Shape;27;g2dd5d6240d7_1_18"/>
          <p:cNvSpPr txBox="1"/>
          <p:nvPr/>
        </p:nvSpPr>
        <p:spPr>
          <a:xfrm>
            <a:off x="1354138" y="3035656"/>
            <a:ext cx="948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" name="Google Shape;28;g2dd5d6240d7_1_18"/>
          <p:cNvSpPr txBox="1"/>
          <p:nvPr/>
        </p:nvSpPr>
        <p:spPr>
          <a:xfrm>
            <a:off x="1354138" y="4341762"/>
            <a:ext cx="9483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" name="Google Shape;29;g2dd5d6240d7_1_18"/>
          <p:cNvSpPr txBox="1"/>
          <p:nvPr/>
        </p:nvSpPr>
        <p:spPr>
          <a:xfrm>
            <a:off x="3189344" y="1823307"/>
            <a:ext cx="3154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g2dd5d6240d7_1_18"/>
          <p:cNvSpPr txBox="1"/>
          <p:nvPr/>
        </p:nvSpPr>
        <p:spPr>
          <a:xfrm>
            <a:off x="3189396" y="2145049"/>
            <a:ext cx="3873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69F1A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" name="Google Shape;31;g2dd5d6240d7_1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2dd5d6240d7_1_18"/>
          <p:cNvSpPr txBox="1">
            <a:spLocks noGrp="1"/>
          </p:cNvSpPr>
          <p:nvPr>
            <p:ph type="body" idx="1"/>
          </p:nvPr>
        </p:nvSpPr>
        <p:spPr>
          <a:xfrm>
            <a:off x="1354138" y="3035656"/>
            <a:ext cx="9483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g2dd5d6240d7_1_18"/>
          <p:cNvSpPr txBox="1">
            <a:spLocks noGrp="1"/>
          </p:cNvSpPr>
          <p:nvPr>
            <p:ph type="body" idx="2"/>
          </p:nvPr>
        </p:nvSpPr>
        <p:spPr>
          <a:xfrm>
            <a:off x="1354138" y="4341762"/>
            <a:ext cx="9483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None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g2dd5d6240d7_1_18"/>
          <p:cNvSpPr txBox="1">
            <a:spLocks noGrp="1"/>
          </p:cNvSpPr>
          <p:nvPr>
            <p:ph type="body" idx="3"/>
          </p:nvPr>
        </p:nvSpPr>
        <p:spPr>
          <a:xfrm>
            <a:off x="3189344" y="1823307"/>
            <a:ext cx="3154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" name="Google Shape;35;g2dd5d6240d7_1_18"/>
          <p:cNvSpPr txBox="1">
            <a:spLocks noGrp="1"/>
          </p:cNvSpPr>
          <p:nvPr>
            <p:ph type="body" idx="4"/>
          </p:nvPr>
        </p:nvSpPr>
        <p:spPr>
          <a:xfrm>
            <a:off x="3189396" y="2145049"/>
            <a:ext cx="3873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9F1AE"/>
              </a:buClr>
              <a:buSzPts val="1000"/>
              <a:buFont typeface="Montserrat"/>
              <a:buNone/>
              <a:defRPr sz="1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9F1AE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6" name="Google Shape;36;g2dd5d6240d7_1_18"/>
          <p:cNvSpPr>
            <a:spLocks noGrp="1"/>
          </p:cNvSpPr>
          <p:nvPr>
            <p:ph type="pic" idx="5"/>
          </p:nvPr>
        </p:nvSpPr>
        <p:spPr>
          <a:xfrm>
            <a:off x="1784453" y="1168192"/>
            <a:ext cx="1488000" cy="1415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" name="Google Shape;37;g2dd5d6240d7_1_18"/>
          <p:cNvSpPr>
            <a:spLocks noGrp="1"/>
          </p:cNvSpPr>
          <p:nvPr>
            <p:ph type="pic" idx="6"/>
          </p:nvPr>
        </p:nvSpPr>
        <p:spPr>
          <a:xfrm>
            <a:off x="3833528" y="1168192"/>
            <a:ext cx="1488000" cy="14154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8" name="Google Shape;38;g2dd5d6240d7_1_18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" name="Google Shape;39;g2dd5d6240d7_1_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2dd5d6240d7_1_18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41;g2dd5d6240d7_1_18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g2dd5d6240d7_1_18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hoto">
  <p:cSld name="Slide with phot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2">
            <a:alphaModFix/>
          </a:blip>
          <a:srcRect t="6009" b="6009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pic>
        <p:nvPicPr>
          <p:cNvPr id="46" name="Google Shape;4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/>
          <p:nvPr/>
        </p:nvSpPr>
        <p:spPr>
          <a:xfrm>
            <a:off x="7516742" y="604325"/>
            <a:ext cx="4080966" cy="5031088"/>
          </a:xfrm>
          <a:prstGeom prst="roundRect">
            <a:avLst>
              <a:gd name="adj" fmla="val 6315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1360557" y="1459724"/>
            <a:ext cx="4598067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1354139" y="4042172"/>
            <a:ext cx="3772008" cy="58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>
            <a:spLocks noGrp="1"/>
          </p:cNvSpPr>
          <p:nvPr>
            <p:ph type="pic" idx="3"/>
          </p:nvPr>
        </p:nvSpPr>
        <p:spPr>
          <a:xfrm>
            <a:off x="7602934" y="685682"/>
            <a:ext cx="3901732" cy="4840475"/>
          </a:xfrm>
          <a:prstGeom prst="roundRect">
            <a:avLst>
              <a:gd name="adj" fmla="val 5494"/>
            </a:avLst>
          </a:prstGeom>
          <a:noFill/>
          <a:ln>
            <a:noFill/>
          </a:ln>
        </p:spPr>
      </p:sp>
      <p:pic>
        <p:nvPicPr>
          <p:cNvPr id="51" name="Google Shape;51;p7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7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hoto 1">
  <p:cSld name="Slide with photo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d5d6240d7_1_50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g2dd5d6240d7_1_50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pic>
        <p:nvPicPr>
          <p:cNvPr id="59" name="Google Shape;59;g2dd5d6240d7_1_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2dd5d6240d7_1_50"/>
          <p:cNvSpPr/>
          <p:nvPr/>
        </p:nvSpPr>
        <p:spPr>
          <a:xfrm>
            <a:off x="1812598" y="604325"/>
            <a:ext cx="9785100" cy="5031000"/>
          </a:xfrm>
          <a:prstGeom prst="roundRect">
            <a:avLst>
              <a:gd name="adj" fmla="val 2877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2dd5d6240d7_1_50"/>
          <p:cNvSpPr>
            <a:spLocks noGrp="1"/>
          </p:cNvSpPr>
          <p:nvPr>
            <p:ph type="pic" idx="2"/>
          </p:nvPr>
        </p:nvSpPr>
        <p:spPr>
          <a:xfrm>
            <a:off x="1887325" y="675725"/>
            <a:ext cx="9617400" cy="4867800"/>
          </a:xfrm>
          <a:prstGeom prst="roundRect">
            <a:avLst>
              <a:gd name="adj" fmla="val 2472"/>
            </a:avLst>
          </a:prstGeom>
          <a:noFill/>
          <a:ln>
            <a:noFill/>
          </a:ln>
        </p:spPr>
      </p:sp>
      <p:pic>
        <p:nvPicPr>
          <p:cNvPr id="62" name="Google Shape;62;g2dd5d6240d7_1_50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g2dd5d6240d7_1_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2dd5d6240d7_1_50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g2dd5d6240d7_1_50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g2dd5d6240d7_1_50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hoto 1 2">
  <p:cSld name="Slide with photo_1_2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d5d6240d7_1_280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g2dd5d6240d7_1_280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pic>
        <p:nvPicPr>
          <p:cNvPr id="70" name="Google Shape;70;g2dd5d6240d7_1_2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2dd5d6240d7_1_280"/>
          <p:cNvSpPr/>
          <p:nvPr/>
        </p:nvSpPr>
        <p:spPr>
          <a:xfrm>
            <a:off x="520200" y="984728"/>
            <a:ext cx="11119200" cy="4804500"/>
          </a:xfrm>
          <a:prstGeom prst="roundRect">
            <a:avLst>
              <a:gd name="adj" fmla="val 2244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g2dd5d6240d7_1_280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574975" y="323004"/>
            <a:ext cx="497100" cy="473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g2dd5d6240d7_1_28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2dd5d6240d7_1_280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g2dd5d6240d7_1_280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g2dd5d6240d7_1_280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hoto 1 1 1 1">
  <p:cSld name="Slide with photo_1_1_1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d5d6240d7_1_132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g2dd5d6240d7_1_132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pic>
        <p:nvPicPr>
          <p:cNvPr id="80" name="Google Shape;80;g2dd5d6240d7_1_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2dd5d6240d7_1_132"/>
          <p:cNvSpPr txBox="1">
            <a:spLocks noGrp="1"/>
          </p:cNvSpPr>
          <p:nvPr>
            <p:ph type="body" idx="1"/>
          </p:nvPr>
        </p:nvSpPr>
        <p:spPr>
          <a:xfrm>
            <a:off x="1696907" y="410799"/>
            <a:ext cx="45981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2" name="Google Shape;82;g2dd5d6240d7_1_132"/>
          <p:cNvSpPr/>
          <p:nvPr/>
        </p:nvSpPr>
        <p:spPr>
          <a:xfrm>
            <a:off x="478578" y="1372300"/>
            <a:ext cx="5305200" cy="4263000"/>
          </a:xfrm>
          <a:prstGeom prst="roundRect">
            <a:avLst>
              <a:gd name="adj" fmla="val 3239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2dd5d6240d7_1_132"/>
          <p:cNvSpPr/>
          <p:nvPr/>
        </p:nvSpPr>
        <p:spPr>
          <a:xfrm>
            <a:off x="6255278" y="1372300"/>
            <a:ext cx="5305200" cy="4263000"/>
          </a:xfrm>
          <a:prstGeom prst="roundRect">
            <a:avLst>
              <a:gd name="adj" fmla="val 3239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g2dd5d6240d7_1_132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5" name="Google Shape;85;g2dd5d6240d7_1_1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2dd5d6240d7_1_132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g2dd5d6240d7_1_132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g2dd5d6240d7_1_132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hoto 1 1">
  <p:cSld name="Slide with photo_1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dd5d6240d7_1_75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2dd5d6240d7_1_75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pic>
        <p:nvPicPr>
          <p:cNvPr id="92" name="Google Shape;92;g2dd5d6240d7_1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2dd5d6240d7_1_75"/>
          <p:cNvSpPr txBox="1">
            <a:spLocks noGrp="1"/>
          </p:cNvSpPr>
          <p:nvPr>
            <p:ph type="body" idx="1"/>
          </p:nvPr>
        </p:nvSpPr>
        <p:spPr>
          <a:xfrm>
            <a:off x="1696907" y="410799"/>
            <a:ext cx="45981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g2dd5d6240d7_1_75"/>
          <p:cNvSpPr/>
          <p:nvPr/>
        </p:nvSpPr>
        <p:spPr>
          <a:xfrm>
            <a:off x="8963067" y="1372289"/>
            <a:ext cx="2597400" cy="4263000"/>
          </a:xfrm>
          <a:prstGeom prst="roundRect">
            <a:avLst>
              <a:gd name="adj" fmla="val 6315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2dd5d6240d7_1_75"/>
          <p:cNvSpPr/>
          <p:nvPr/>
        </p:nvSpPr>
        <p:spPr>
          <a:xfrm>
            <a:off x="6134903" y="1372289"/>
            <a:ext cx="2597400" cy="4263000"/>
          </a:xfrm>
          <a:prstGeom prst="roundRect">
            <a:avLst>
              <a:gd name="adj" fmla="val 6315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2dd5d6240d7_1_75"/>
          <p:cNvSpPr/>
          <p:nvPr/>
        </p:nvSpPr>
        <p:spPr>
          <a:xfrm>
            <a:off x="3306739" y="1372289"/>
            <a:ext cx="2597400" cy="4263000"/>
          </a:xfrm>
          <a:prstGeom prst="roundRect">
            <a:avLst>
              <a:gd name="adj" fmla="val 6315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2dd5d6240d7_1_75"/>
          <p:cNvSpPr/>
          <p:nvPr/>
        </p:nvSpPr>
        <p:spPr>
          <a:xfrm>
            <a:off x="478575" y="1372289"/>
            <a:ext cx="2597400" cy="4263000"/>
          </a:xfrm>
          <a:prstGeom prst="roundRect">
            <a:avLst>
              <a:gd name="adj" fmla="val 6315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g2dd5d6240d7_1_75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9" name="Google Shape;99;g2dd5d6240d7_1_7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2dd5d6240d7_1_75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2dd5d6240d7_1_75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g2dd5d6240d7_1_75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hoto 1 1 1">
  <p:cSld name="Slide with photo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d5d6240d7_1_105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g2dd5d6240d7_1_105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pic>
        <p:nvPicPr>
          <p:cNvPr id="106" name="Google Shape;106;g2dd5d6240d7_1_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dd5d6240d7_1_105"/>
          <p:cNvSpPr txBox="1">
            <a:spLocks noGrp="1"/>
          </p:cNvSpPr>
          <p:nvPr>
            <p:ph type="body" idx="1"/>
          </p:nvPr>
        </p:nvSpPr>
        <p:spPr>
          <a:xfrm>
            <a:off x="1696907" y="410799"/>
            <a:ext cx="45981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8" name="Google Shape;108;g2dd5d6240d7_1_105"/>
          <p:cNvSpPr/>
          <p:nvPr/>
        </p:nvSpPr>
        <p:spPr>
          <a:xfrm>
            <a:off x="478576" y="1372300"/>
            <a:ext cx="3487200" cy="4263000"/>
          </a:xfrm>
          <a:prstGeom prst="roundRect">
            <a:avLst>
              <a:gd name="adj" fmla="val 4228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2dd5d6240d7_1_105"/>
          <p:cNvSpPr/>
          <p:nvPr/>
        </p:nvSpPr>
        <p:spPr>
          <a:xfrm>
            <a:off x="4275826" y="1372300"/>
            <a:ext cx="3487200" cy="4263000"/>
          </a:xfrm>
          <a:prstGeom prst="roundRect">
            <a:avLst>
              <a:gd name="adj" fmla="val 4228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2dd5d6240d7_1_105"/>
          <p:cNvSpPr/>
          <p:nvPr/>
        </p:nvSpPr>
        <p:spPr>
          <a:xfrm>
            <a:off x="8073076" y="1372300"/>
            <a:ext cx="3487200" cy="4263000"/>
          </a:xfrm>
          <a:prstGeom prst="roundRect">
            <a:avLst>
              <a:gd name="adj" fmla="val 4228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g2dd5d6240d7_1_105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2" name="Google Shape;112;g2dd5d6240d7_1_10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dd5d6240d7_1_105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g2dd5d6240d7_1_105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2dd5d6240d7_1_105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hoto 1 1 1 1 1">
  <p:cSld name="Slide with photo_1_1_1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d5d6240d7_1_207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2dd5d6240d7_1_207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sp>
        <p:nvSpPr>
          <p:cNvPr id="119" name="Google Shape;119;g2dd5d6240d7_1_207"/>
          <p:cNvSpPr txBox="1">
            <a:spLocks noGrp="1"/>
          </p:cNvSpPr>
          <p:nvPr>
            <p:ph type="body" idx="1"/>
          </p:nvPr>
        </p:nvSpPr>
        <p:spPr>
          <a:xfrm>
            <a:off x="1696907" y="410799"/>
            <a:ext cx="45981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0" name="Google Shape;120;g2dd5d6240d7_1_207"/>
          <p:cNvSpPr/>
          <p:nvPr/>
        </p:nvSpPr>
        <p:spPr>
          <a:xfrm>
            <a:off x="478578" y="1372300"/>
            <a:ext cx="5305200" cy="4263000"/>
          </a:xfrm>
          <a:prstGeom prst="roundRect">
            <a:avLst>
              <a:gd name="adj" fmla="val 3239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2dd5d6240d7_1_207"/>
          <p:cNvSpPr/>
          <p:nvPr/>
        </p:nvSpPr>
        <p:spPr>
          <a:xfrm>
            <a:off x="478578" y="1372300"/>
            <a:ext cx="5305200" cy="4263000"/>
          </a:xfrm>
          <a:prstGeom prst="roundRect">
            <a:avLst>
              <a:gd name="adj" fmla="val 3239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g2dd5d6240d7_1_207"/>
          <p:cNvPicPr preferRelativeResize="0"/>
          <p:nvPr/>
        </p:nvPicPr>
        <p:blipFill rotWithShape="1">
          <a:blip r:embed="rId3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3" name="Google Shape;123;g2dd5d6240d7_1_2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dd5d6240d7_1_207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g2dd5d6240d7_1_207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2dd5d6240d7_1_207" title="StorPool-logo_horizont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hoto 1 1 1 1 1 1">
  <p:cSld name="Slide with photo_1_1_1_1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d5d6240d7_1_230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2dd5d6240d7_1_230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sp>
        <p:nvSpPr>
          <p:cNvPr id="130" name="Google Shape;130;g2dd5d6240d7_1_230"/>
          <p:cNvSpPr txBox="1">
            <a:spLocks noGrp="1"/>
          </p:cNvSpPr>
          <p:nvPr>
            <p:ph type="body" idx="1"/>
          </p:nvPr>
        </p:nvSpPr>
        <p:spPr>
          <a:xfrm>
            <a:off x="1696907" y="410799"/>
            <a:ext cx="45981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1" name="Google Shape;131;g2dd5d6240d7_1_230"/>
          <p:cNvSpPr/>
          <p:nvPr/>
        </p:nvSpPr>
        <p:spPr>
          <a:xfrm>
            <a:off x="478575" y="1784575"/>
            <a:ext cx="5305200" cy="3850800"/>
          </a:xfrm>
          <a:prstGeom prst="roundRect">
            <a:avLst>
              <a:gd name="adj" fmla="val 3239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2dd5d6240d7_1_230"/>
          <p:cNvSpPr/>
          <p:nvPr/>
        </p:nvSpPr>
        <p:spPr>
          <a:xfrm>
            <a:off x="6477825" y="410800"/>
            <a:ext cx="5305200" cy="5224500"/>
          </a:xfrm>
          <a:prstGeom prst="roundRect">
            <a:avLst>
              <a:gd name="adj" fmla="val 3239"/>
            </a:avLst>
          </a:prstGeom>
          <a:solidFill>
            <a:schemeClr val="lt1"/>
          </a:solidFill>
          <a:ln>
            <a:noFill/>
          </a:ln>
          <a:effectLst>
            <a:outerShdw blurRad="1130300" dist="279400" dir="54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g2dd5d6240d7_1_230"/>
          <p:cNvPicPr preferRelativeResize="0"/>
          <p:nvPr/>
        </p:nvPicPr>
        <p:blipFill rotWithShape="1">
          <a:blip r:embed="rId3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4" name="Google Shape;134;g2dd5d6240d7_1_2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dd5d6240d7_1_230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g2dd5d6240d7_1_230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2dd5d6240d7_1_230" title="StorPool-logo_horizont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out photo">
  <p:cSld name="Slide without photo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>
            <a:spLocks noGrp="1"/>
          </p:cNvSpPr>
          <p:nvPr>
            <p:ph type="body" idx="1"/>
          </p:nvPr>
        </p:nvSpPr>
        <p:spPr>
          <a:xfrm>
            <a:off x="1360557" y="1459724"/>
            <a:ext cx="45981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body" idx="2"/>
          </p:nvPr>
        </p:nvSpPr>
        <p:spPr>
          <a:xfrm>
            <a:off x="1354139" y="4042172"/>
            <a:ext cx="37719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574973" y="543826"/>
            <a:ext cx="573600" cy="545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5" name="Google Shape;14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8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Thank you slide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9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sp>
        <p:nvSpPr>
          <p:cNvPr id="152" name="Google Shape;152;p9"/>
          <p:cNvSpPr txBox="1"/>
          <p:nvPr/>
        </p:nvSpPr>
        <p:spPr>
          <a:xfrm>
            <a:off x="1049235" y="819254"/>
            <a:ext cx="337047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sz="4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1049235" y="2915353"/>
            <a:ext cx="669632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СЛЕДВАЩО СЪБИТИЕ</a:t>
            </a: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028753" y="3566661"/>
            <a:ext cx="10114012" cy="1948941"/>
          </a:xfrm>
          <a:prstGeom prst="roundRect">
            <a:avLst>
              <a:gd name="adj" fmla="val 3397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000" scaled="0"/>
          </a:gradFill>
          <a:ln>
            <a:noFill/>
          </a:ln>
          <a:effectLst>
            <a:outerShdw blurRad="628650" dist="114300" dir="3000000" algn="bl" rotWithShape="0">
              <a:srgbClr val="69F1AE">
                <a:alpha val="8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2919184" y="3864409"/>
            <a:ext cx="2110432" cy="303813"/>
          </a:xfrm>
          <a:prstGeom prst="roundRect">
            <a:avLst>
              <a:gd name="adj" fmla="val 50000"/>
            </a:avLst>
          </a:prstGeom>
          <a:solidFill>
            <a:srgbClr val="69F1A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>
            <a:spLocks noGrp="1"/>
          </p:cNvSpPr>
          <p:nvPr>
            <p:ph type="body" idx="1"/>
          </p:nvPr>
        </p:nvSpPr>
        <p:spPr>
          <a:xfrm>
            <a:off x="2866936" y="3907553"/>
            <a:ext cx="2201944" cy="16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1028753" y="3566660"/>
            <a:ext cx="1321041" cy="1016205"/>
          </a:xfrm>
          <a:custGeom>
            <a:avLst/>
            <a:gdLst/>
            <a:ahLst/>
            <a:cxnLst/>
            <a:rect l="l" t="t" r="r" b="b"/>
            <a:pathLst>
              <a:path w="1091854" h="833780" extrusionOk="0">
                <a:moveTo>
                  <a:pt x="0" y="29319"/>
                </a:moveTo>
                <a:cubicBezTo>
                  <a:pt x="0" y="13127"/>
                  <a:pt x="13127" y="0"/>
                  <a:pt x="29319" y="0"/>
                </a:cubicBezTo>
                <a:lnTo>
                  <a:pt x="1091239" y="0"/>
                </a:lnTo>
                <a:cubicBezTo>
                  <a:pt x="1110575" y="429633"/>
                  <a:pt x="672379" y="822838"/>
                  <a:pt x="0" y="833780"/>
                </a:cubicBezTo>
                <a:lnTo>
                  <a:pt x="0" y="293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>
            <a:spLocks noGrp="1"/>
          </p:cNvSpPr>
          <p:nvPr>
            <p:ph type="body" idx="2"/>
          </p:nvPr>
        </p:nvSpPr>
        <p:spPr>
          <a:xfrm>
            <a:off x="2919185" y="4346075"/>
            <a:ext cx="7834554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body" idx="3"/>
          </p:nvPr>
        </p:nvSpPr>
        <p:spPr>
          <a:xfrm>
            <a:off x="2919184" y="5106629"/>
            <a:ext cx="2201944" cy="13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sz="9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2919184" y="4875798"/>
            <a:ext cx="66103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Лектор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9"/>
          <p:cNvSpPr txBox="1">
            <a:spLocks noGrp="1"/>
          </p:cNvSpPr>
          <p:nvPr>
            <p:ph type="body" idx="4"/>
          </p:nvPr>
        </p:nvSpPr>
        <p:spPr>
          <a:xfrm>
            <a:off x="5624677" y="5106629"/>
            <a:ext cx="1457756" cy="13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sz="9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5624677" y="4875798"/>
            <a:ext cx="673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Дата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9"/>
          <p:cNvSpPr txBox="1">
            <a:spLocks noGrp="1"/>
          </p:cNvSpPr>
          <p:nvPr>
            <p:ph type="body" idx="5"/>
          </p:nvPr>
        </p:nvSpPr>
        <p:spPr>
          <a:xfrm>
            <a:off x="7500611" y="5106629"/>
            <a:ext cx="1578962" cy="13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sz="9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7500611" y="4875798"/>
            <a:ext cx="74474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Език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3">
            <a:alphaModFix amt="28000"/>
          </a:blip>
          <a:srcRect l="16304" b="44282"/>
          <a:stretch/>
        </p:blipFill>
        <p:spPr>
          <a:xfrm rot="10800000">
            <a:off x="8449739" y="3566659"/>
            <a:ext cx="2693026" cy="80864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>
            <a:spLocks noGrp="1"/>
          </p:cNvSpPr>
          <p:nvPr>
            <p:ph type="pic" idx="6"/>
          </p:nvPr>
        </p:nvSpPr>
        <p:spPr>
          <a:xfrm>
            <a:off x="1501636" y="3907553"/>
            <a:ext cx="1139158" cy="1083547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67" name="Google Shape;167;p9"/>
          <p:cNvPicPr preferRelativeResize="0"/>
          <p:nvPr/>
        </p:nvPicPr>
        <p:blipFill rotWithShape="1">
          <a:blip r:embed="rId4">
            <a:alphaModFix/>
          </a:blip>
          <a:srcRect t="9612" b="9612"/>
          <a:stretch/>
        </p:blipFill>
        <p:spPr>
          <a:xfrm>
            <a:off x="1152059" y="3682779"/>
            <a:ext cx="433200" cy="411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8" name="Google Shape;16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9" title="StorPool-logo_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 1">
  <p:cSld name="Thank you slide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d5d6240d7_1_173"/>
          <p:cNvSpPr/>
          <p:nvPr/>
        </p:nvSpPr>
        <p:spPr>
          <a:xfrm>
            <a:off x="-125" y="0"/>
            <a:ext cx="12192000" cy="60177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69F1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2dd5d6240d7_1_173"/>
          <p:cNvPicPr preferRelativeResize="0"/>
          <p:nvPr/>
        </p:nvPicPr>
        <p:blipFill rotWithShape="1">
          <a:blip r:embed="rId2">
            <a:alphaModFix/>
          </a:blip>
          <a:srcRect t="6009" b="6008"/>
          <a:stretch/>
        </p:blipFill>
        <p:spPr>
          <a:xfrm>
            <a:off x="0" y="0"/>
            <a:ext cx="12192000" cy="6017701"/>
          </a:xfrm>
          <a:prstGeom prst="rect">
            <a:avLst/>
          </a:prstGeom>
          <a:gradFill>
            <a:gsLst>
              <a:gs pos="0">
                <a:srgbClr val="374EFD"/>
              </a:gs>
              <a:gs pos="100000">
                <a:srgbClr val="3844C6"/>
              </a:gs>
            </a:gsLst>
            <a:lin ang="5400700" scaled="0"/>
          </a:gradFill>
          <a:ln>
            <a:noFill/>
          </a:ln>
        </p:spPr>
      </p:pic>
      <p:sp>
        <p:nvSpPr>
          <p:cNvPr id="175" name="Google Shape;175;g2dd5d6240d7_1_173"/>
          <p:cNvSpPr txBox="1"/>
          <p:nvPr/>
        </p:nvSpPr>
        <p:spPr>
          <a:xfrm>
            <a:off x="1049235" y="819254"/>
            <a:ext cx="3370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sz="4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g2dd5d6240d7_1_1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92731"/>
            <a:ext cx="12191998" cy="2607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2dd5d6240d7_1_1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062" y="6336300"/>
            <a:ext cx="844209" cy="1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2dd5d6240d7_1_173"/>
          <p:cNvSpPr txBox="1"/>
          <p:nvPr/>
        </p:nvSpPr>
        <p:spPr>
          <a:xfrm>
            <a:off x="7142889" y="6286882"/>
            <a:ext cx="4502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Следете актуалните обяви за </a:t>
            </a:r>
            <a:r>
              <a:rPr lang="en-US" sz="1300" b="1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C, C++</a:t>
            </a:r>
            <a:endParaRPr sz="1300" b="1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g2dd5d6240d7_1_173"/>
          <p:cNvSpPr txBox="1"/>
          <p:nvPr/>
        </p:nvSpPr>
        <p:spPr>
          <a:xfrm>
            <a:off x="177175" y="6246646"/>
            <a:ext cx="14880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Партньор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2dd5d6240d7_1_173" title="StorPool-logo_horizont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674" y="6246650"/>
            <a:ext cx="1349601" cy="4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"/>
          <p:cNvSpPr txBox="1">
            <a:spLocks noGrp="1"/>
          </p:cNvSpPr>
          <p:nvPr>
            <p:ph type="body" idx="2"/>
          </p:nvPr>
        </p:nvSpPr>
        <p:spPr>
          <a:xfrm>
            <a:off x="1354138" y="4341762"/>
            <a:ext cx="94837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1800"/>
              <a:buNone/>
            </a:pPr>
            <a:r>
              <a:t>One API over epoll, kqueue, IOCP and io_uring</a:t>
            </a:r>
          </a:p>
        </p:txBody>
      </p:sp>
      <p:pic>
        <p:nvPicPr>
          <p:cNvPr id="186" name="Speaker photo" descr="Alex Tsvetanov"/>
          <p:cNvPicPr>
            <a:picLocks noGrp="1" noChangeAspect="1"/>
          </p:cNvPicPr>
          <p:nvPr>
            <p:ph type="pic" idx="5"/>
          </p:nvPr>
        </p:nvPicPr>
        <p:blipFill>
          <a:blip r:embed="rId3"/>
          <a:srcRect l="132" t="4494" r="-132" b="12256"/>
          <a:stretch>
            <a:fillRect/>
          </a:stretch>
        </p:blipFill>
        <p:spPr>
          <a:xfrm>
            <a:off x="1382703" y="960642"/>
            <a:ext cx="1488000" cy="1415400"/>
          </a:xfrm>
          <a:prstGeom prst="ellipse">
            <a:avLst/>
          </a:prstGeom>
        </p:spPr>
      </p:pic>
      <p:sp>
        <p:nvSpPr>
          <p:cNvPr id="187" name="Google Shape;187;p1"/>
          <p:cNvSpPr txBox="1">
            <a:spLocks noGrp="1"/>
          </p:cNvSpPr>
          <p:nvPr>
            <p:ph type="body" idx="2"/>
          </p:nvPr>
        </p:nvSpPr>
        <p:spPr>
          <a:xfrm>
            <a:off x="1380744" y="2487168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1800"/>
              <a:buNone/>
            </a:pPr>
            <a:r>
              <a:rPr lang="en-US" b="1"/>
              <a:t>Alex Tsvetanov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1800"/>
              <a:buNone/>
            </a:pPr>
            <a:r>
              <a:rPr lang="en-US" b="1"/>
              <a:t>Senior C++ Software Engineer</a:t>
            </a:r>
            <a:endParaRPr b="1"/>
          </a:p>
        </p:txBody>
      </p:sp>
      <p:sp>
        <p:nvSpPr>
          <p:cNvPr id="188" name="Google Shape;188;p1"/>
          <p:cNvSpPr txBox="1">
            <a:spLocks noGrp="1"/>
          </p:cNvSpPr>
          <p:nvPr>
            <p:ph type="body" idx="1"/>
          </p:nvPr>
        </p:nvSpPr>
        <p:spPr>
          <a:xfrm>
            <a:off x="1354138" y="3371681"/>
            <a:ext cx="9483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000"/>
              <a:buFont typeface="Arial"/>
              <a:buNone/>
            </a:pPr>
            <a:r>
              <a:t>Async I/O with C++20 coroutines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"/>
          <p:cNvSpPr txBox="1">
            <a:spLocks noGrp="1"/>
          </p:cNvSpPr>
          <p:nvPr>
            <p:ph type="body" idx="1"/>
          </p:nvPr>
        </p:nvSpPr>
        <p:spPr>
          <a:xfrm>
            <a:off x="1362456" y="137160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Where the time actually goes</a:t>
            </a:r>
          </a:p>
        </p:txBody>
      </p:sp>
      <p:sp>
        <p:nvSpPr>
          <p:cNvPr id="280" name="Google Shape;280;p3"/>
          <p:cNvSpPr txBox="1">
            <a:spLocks noGrp="1"/>
          </p:cNvSpPr>
          <p:nvPr>
            <p:ph type="body" idx="2"/>
          </p:nvPr>
        </p:nvSpPr>
        <p:spPr>
          <a:xfrm>
            <a:off x="1353312" y="2240280"/>
            <a:ext cx="98755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1 / The problem</a:t>
            </a:r>
          </a:p>
        </p:txBody>
      </p:sp>
      <p:sp>
        <p:nvSpPr>
          <p:cNvPr id="3" name="sticker_emoji">
            <a:extLst>
              <a:ext uri="{FF2B5EF4-FFF2-40B4-BE49-F238E27FC236}">
                <a16:creationId xmlns:a16="http://schemas.microsoft.com/office/drawing/2014/main" id="{C4645A1F-1DE8-9094-EF97-DBE64FC2822B}"/>
              </a:ext>
            </a:extLst>
          </p:cNvPr>
          <p:cNvSpPr txBox="1"/>
          <p:nvPr/>
        </p:nvSpPr>
        <p:spPr>
          <a:xfrm>
            <a:off x="7747000" y="2730500"/>
            <a:ext cx="2857500" cy="2857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sz="15000">
                <a:latin typeface="Segoe UI Emoji" panose="020B0502040204020203" pitchFamily="34" charset="0"/>
              </a:rPr>
              <a:t>⏳</a:t>
            </a:r>
            <a:endParaRPr lang="bg-BG" sz="1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d5d6240d7_0_32"/>
          <p:cNvSpPr/>
          <p:nvPr/>
        </p:nvSpPr>
        <p:spPr>
          <a:xfrm>
            <a:off x="63272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dd5d6240d7_0_32"/>
          <p:cNvSpPr/>
          <p:nvPr/>
        </p:nvSpPr>
        <p:spPr>
          <a:xfrm>
            <a:off x="5540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dd5d6240d7_0_32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Threads do not scale</a:t>
            </a:r>
          </a:p>
        </p:txBody>
      </p:sp>
      <p:sp>
        <p:nvSpPr>
          <p:cNvPr id="224" name="Google Shape;224;g2dd5d6240d7_0_32"/>
          <p:cNvSpPr txBox="1"/>
          <p:nvPr/>
        </p:nvSpPr>
        <p:spPr>
          <a:xfrm>
            <a:off x="777240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Thread per connection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2dd5d6240d7_0_32"/>
          <p:cNvSpPr txBox="1"/>
          <p:nvPr/>
        </p:nvSpPr>
        <p:spPr>
          <a:xfrm>
            <a:off x="777240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Memory is the smaller cost.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The scheduler and the cache are the bigger one.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Past a few thousand connections you are paying for context switches you never asked for.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2dd5d6240d7_0_32"/>
          <p:cNvSpPr txBox="1"/>
          <p:nvPr/>
        </p:nvSpPr>
        <p:spPr>
          <a:xfrm>
            <a:off x="6547104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Thread pool + blocking calls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g2dd5d6240d7_0_32"/>
          <p:cNvSpPr txBox="1"/>
          <p:nvPr/>
        </p:nvSpPr>
        <p:spPr>
          <a:xfrm>
            <a:off x="6547104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Moves the stall, does not remove it.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A blocked pool thread is a thread that cannot serve anyone else, and the queue behind it grows.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d5d6240d7_0_116"/>
          <p:cNvSpPr/>
          <p:nvPr/>
        </p:nvSpPr>
        <p:spPr>
          <a:xfrm>
            <a:off x="621975" y="1090775"/>
            <a:ext cx="10917900" cy="4594500"/>
          </a:xfrm>
          <a:prstGeom prst="roundRect">
            <a:avLst>
              <a:gd name="adj" fmla="val 183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dd5d6240d7_0_116"/>
          <p:cNvSpPr txBox="1"/>
          <p:nvPr/>
        </p:nvSpPr>
        <p:spPr>
          <a:xfrm>
            <a:off x="1280160" y="2240280"/>
            <a:ext cx="9601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Most servers are not saturated.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The idle-to-medium path is where the overhead hides, and nobody profiles it.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ticker_emoji">
            <a:extLst>
              <a:ext uri="{FF2B5EF4-FFF2-40B4-BE49-F238E27FC236}">
                <a16:creationId xmlns:a16="http://schemas.microsoft.com/office/drawing/2014/main" id="{FA865931-BB7B-59BC-F5DA-3C4F3599BC17}"/>
              </a:ext>
            </a:extLst>
          </p:cNvPr>
          <p:cNvSpPr txBox="1"/>
          <p:nvPr/>
        </p:nvSpPr>
        <p:spPr>
          <a:xfrm>
            <a:off x="5181600" y="3556000"/>
            <a:ext cx="1828800" cy="1828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bg-BG" sz="9600"/>
              <a:t>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"/>
          <p:cNvSpPr txBox="1">
            <a:spLocks noGrp="1"/>
          </p:cNvSpPr>
          <p:nvPr>
            <p:ph type="body" idx="1"/>
          </p:nvPr>
        </p:nvSpPr>
        <p:spPr>
          <a:xfrm>
            <a:off x="1362456" y="137160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Readiness versus completion</a:t>
            </a:r>
          </a:p>
        </p:txBody>
      </p:sp>
      <p:sp>
        <p:nvSpPr>
          <p:cNvPr id="280" name="Google Shape;280;p3"/>
          <p:cNvSpPr txBox="1">
            <a:spLocks noGrp="1"/>
          </p:cNvSpPr>
          <p:nvPr>
            <p:ph type="body" idx="2"/>
          </p:nvPr>
        </p:nvSpPr>
        <p:spPr>
          <a:xfrm>
            <a:off x="1353312" y="2240280"/>
            <a:ext cx="98755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2 / Two families, four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d5d6240d7_0_32"/>
          <p:cNvSpPr/>
          <p:nvPr/>
        </p:nvSpPr>
        <p:spPr>
          <a:xfrm>
            <a:off x="63272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dd5d6240d7_0_32"/>
          <p:cNvSpPr/>
          <p:nvPr/>
        </p:nvSpPr>
        <p:spPr>
          <a:xfrm>
            <a:off x="5540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dd5d6240d7_0_32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Two contracts, one job</a:t>
            </a:r>
          </a:p>
        </p:txBody>
      </p:sp>
      <p:sp>
        <p:nvSpPr>
          <p:cNvPr id="224" name="Google Shape;224;g2dd5d6240d7_0_32"/>
          <p:cNvSpPr txBox="1"/>
          <p:nvPr/>
        </p:nvSpPr>
        <p:spPr>
          <a:xfrm>
            <a:off x="777240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Readiness / poll, epoll, kqueue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2dd5d6240d7_0_32"/>
          <p:cNvSpPr txBox="1"/>
          <p:nvPr/>
        </p:nvSpPr>
        <p:spPr>
          <a:xfrm>
            <a:off x="777240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"This descriptor will not block."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The kernel tells you when. You then make the syscall yourself.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Nothing owns your buffer until you call.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2dd5d6240d7_0_32"/>
          <p:cNvSpPr txBox="1"/>
          <p:nvPr/>
        </p:nvSpPr>
        <p:spPr>
          <a:xfrm>
            <a:off x="6547104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Completion / IOCP, io_uring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g2dd5d6240d7_0_32"/>
          <p:cNvSpPr txBox="1"/>
          <p:nvPr/>
        </p:nvSpPr>
        <p:spPr>
          <a:xfrm>
            <a:off x="6547104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"Here is the whole operation. Tell me when it is done."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The kernel runs it. io_uring adds a submission and completion ring in shared memory, so submissions batch.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The kernel owns your buffer while it runs.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d5d6240d7_0_116"/>
          <p:cNvSpPr/>
          <p:nvPr/>
        </p:nvSpPr>
        <p:spPr>
          <a:xfrm>
            <a:off x="621975" y="1090775"/>
            <a:ext cx="10917900" cy="4594500"/>
          </a:xfrm>
          <a:prstGeom prst="roundRect">
            <a:avLst>
              <a:gd name="adj" fmla="val 183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dd5d6240d7_0_116"/>
          <p:cNvSpPr txBox="1"/>
          <p:nvPr/>
        </p:nvSpPr>
        <p:spPr>
          <a:xfrm>
            <a:off x="1280160" y="2240280"/>
            <a:ext cx="9601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Who owns the buffer while the operation is in flight?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That one question is why a naive wrapper over both is a use-after-free waiting for load.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ticker_emoji">
            <a:extLst>
              <a:ext uri="{FF2B5EF4-FFF2-40B4-BE49-F238E27FC236}">
                <a16:creationId xmlns:a16="http://schemas.microsoft.com/office/drawing/2014/main" id="{A64700D6-518F-6564-C7F1-0BCECE2E609C}"/>
              </a:ext>
            </a:extLst>
          </p:cNvPr>
          <p:cNvSpPr txBox="1"/>
          <p:nvPr/>
        </p:nvSpPr>
        <p:spPr>
          <a:xfrm>
            <a:off x="5181600" y="3556000"/>
            <a:ext cx="1828800" cy="1828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bg-BG" sz="9600"/>
              <a:t>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"/>
          <p:cNvSpPr txBox="1">
            <a:spLocks noGrp="1"/>
          </p:cNvSpPr>
          <p:nvPr>
            <p:ph type="body" idx="1"/>
          </p:nvPr>
        </p:nvSpPr>
        <p:spPr>
          <a:xfrm>
            <a:off x="1362456" y="137160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C++20 coroutines</a:t>
            </a:r>
          </a:p>
        </p:txBody>
      </p:sp>
      <p:sp>
        <p:nvSpPr>
          <p:cNvPr id="280" name="Google Shape;280;p3"/>
          <p:cNvSpPr txBox="1">
            <a:spLocks noGrp="1"/>
          </p:cNvSpPr>
          <p:nvPr>
            <p:ph type="body" idx="2"/>
          </p:nvPr>
        </p:nvSpPr>
        <p:spPr>
          <a:xfrm>
            <a:off x="1353312" y="2240280"/>
            <a:ext cx="98755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3 / Three functions and a frame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d5d6240d7_0_27"/>
          <p:cNvSpPr/>
          <p:nvPr/>
        </p:nvSpPr>
        <p:spPr>
          <a:xfrm>
            <a:off x="8145575" y="1443450"/>
            <a:ext cx="3340500" cy="41199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2dd5d6240d7_0_27"/>
          <p:cNvSpPr/>
          <p:nvPr/>
        </p:nvSpPr>
        <p:spPr>
          <a:xfrm>
            <a:off x="4356450" y="1448250"/>
            <a:ext cx="3333900" cy="41151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2dd5d6240d7_0_27"/>
          <p:cNvSpPr/>
          <p:nvPr/>
        </p:nvSpPr>
        <p:spPr>
          <a:xfrm>
            <a:off x="551625" y="1448250"/>
            <a:ext cx="3340500" cy="41151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2dd5d6240d7_0_27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The awaitable contract</a:t>
            </a:r>
          </a:p>
        </p:txBody>
      </p:sp>
      <p:sp>
        <p:nvSpPr>
          <p:cNvPr id="253" name="Google Shape;253;g2dd5d6240d7_0_27"/>
          <p:cNvSpPr txBox="1"/>
          <p:nvPr/>
        </p:nvSpPr>
        <p:spPr>
          <a:xfrm>
            <a:off x="731520" y="148132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await_ready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g2dd5d6240d7_0_27"/>
          <p:cNvSpPr txBox="1"/>
          <p:nvPr/>
        </p:nvSpPr>
        <p:spPr>
          <a:xfrm>
            <a:off x="731520" y="2011680"/>
            <a:ext cx="2999232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bool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2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await_ready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()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</a:t>
            </a:r>
            <a:r>
              <a:rPr lang="en-US" sz="12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const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2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noexcept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The fast path.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Return true when the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answer is already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known and skip the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suspension entirely.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g2dd5d6240d7_0_27"/>
          <p:cNvSpPr txBox="1"/>
          <p:nvPr/>
        </p:nvSpPr>
        <p:spPr>
          <a:xfrm>
            <a:off x="4535424" y="148132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await_suspend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g2dd5d6240d7_0_27"/>
          <p:cNvSpPr txBox="1"/>
          <p:nvPr/>
        </p:nvSpPr>
        <p:spPr>
          <a:xfrm>
            <a:off x="4535424" y="2011680"/>
            <a:ext cx="2999232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bool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2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await_suspend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</a:t>
            </a:r>
            <a:r>
              <a:rPr lang="en-US" sz="1200" b="0" i="0" u="none" strike="noStrike" cap="none">
                <a:solidFill>
                  <a:srgbClr val="267F99"/>
                </a:solidFill>
                <a:latin typeface="Courier New"/>
                <a:ea typeface="Montserrat"/>
                <a:cs typeface="Courier New"/>
                <a:sym typeface="Montserrat"/>
              </a:rPr>
              <a:t>coroutine_handle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&lt;&gt; h);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Where you hand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control away.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Return false to carry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on without suspending.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g2dd5d6240d7_0_27"/>
          <p:cNvSpPr txBox="1"/>
          <p:nvPr/>
        </p:nvSpPr>
        <p:spPr>
          <a:xfrm>
            <a:off x="8330183" y="148132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await_resume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g2dd5d6240d7_0_27"/>
          <p:cNvSpPr txBox="1"/>
          <p:nvPr/>
        </p:nvSpPr>
        <p:spPr>
          <a:xfrm>
            <a:off x="8330183" y="2011680"/>
            <a:ext cx="2999232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int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2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await_resume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()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</a:t>
            </a:r>
            <a:r>
              <a:rPr lang="en-US" sz="12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const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2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noexcept</a:t>
            </a:r>
            <a:r>
              <a:rPr lang="en-US" sz="12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Produces the value the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co_await expression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evaluates to, once you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4F4F4F"/>
                </a:solidFill>
                <a:latin typeface="Courier New"/>
                <a:ea typeface="Montserrat"/>
                <a:cs typeface="Courier New"/>
                <a:sym typeface="Montserrat"/>
              </a:rPr>
              <a:t>are resumed.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d5d6240d7_0_116"/>
          <p:cNvSpPr/>
          <p:nvPr/>
        </p:nvSpPr>
        <p:spPr>
          <a:xfrm>
            <a:off x="621975" y="1090775"/>
            <a:ext cx="10917900" cy="4594500"/>
          </a:xfrm>
          <a:prstGeom prst="roundRect">
            <a:avLst>
              <a:gd name="adj" fmla="val 183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dd5d6240d7_0_116"/>
          <p:cNvSpPr txBox="1"/>
          <p:nvPr/>
        </p:nvSpPr>
        <p:spPr>
          <a:xfrm>
            <a:off x="1280160" y="2148840"/>
            <a:ext cx="96012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When a coroutine suspends, its locals live in the frame, on the heap.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Not on a stack frame that is about to be reused. Same address, still alive, until it resumes or is destroyed.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ticker_emoji">
            <a:extLst>
              <a:ext uri="{FF2B5EF4-FFF2-40B4-BE49-F238E27FC236}">
                <a16:creationId xmlns:a16="http://schemas.microsoft.com/office/drawing/2014/main" id="{8E34D560-DDA1-473E-6117-8048A43D9B1C}"/>
              </a:ext>
            </a:extLst>
          </p:cNvPr>
          <p:cNvSpPr txBox="1"/>
          <p:nvPr/>
        </p:nvSpPr>
        <p:spPr>
          <a:xfrm>
            <a:off x="5232400" y="3365500"/>
            <a:ext cx="1714500" cy="1714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bg-BG" sz="9000"/>
              <a:t>🧳</a:t>
            </a:r>
          </a:p>
        </p:txBody>
      </p:sp>
      <p:sp>
        <p:nvSpPr>
          <p:cNvPr id="3" name="sticker_caption">
            <a:extLst>
              <a:ext uri="{FF2B5EF4-FFF2-40B4-BE49-F238E27FC236}">
                <a16:creationId xmlns:a16="http://schemas.microsoft.com/office/drawing/2014/main" id="{6547CA70-4DC9-4581-76F5-3C107E5F1F0A}"/>
              </a:ext>
            </a:extLst>
          </p:cNvPr>
          <p:cNvSpPr txBox="1"/>
          <p:nvPr/>
        </p:nvSpPr>
        <p:spPr>
          <a:xfrm>
            <a:off x="3556000" y="5080000"/>
            <a:ext cx="508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 i="1">
                <a:solidFill>
                  <a:srgbClr val="404040"/>
                </a:solidFill>
                <a:latin typeface="Montserrat" panose="00000500000000000000" pitchFamily="2" charset="0"/>
              </a:rPr>
              <a:t>locals, packed for the trip</a:t>
            </a:r>
            <a:endParaRPr lang="bg-BG" sz="1600" i="1">
              <a:solidFill>
                <a:srgbClr val="404040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"/>
          <p:cNvSpPr txBox="1">
            <a:spLocks noGrp="1"/>
          </p:cNvSpPr>
          <p:nvPr>
            <p:ph type="body" idx="1"/>
          </p:nvPr>
        </p:nvSpPr>
        <p:spPr>
          <a:xfrm>
            <a:off x="1362456" y="137160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Putting them together</a:t>
            </a:r>
          </a:p>
        </p:txBody>
      </p:sp>
      <p:sp>
        <p:nvSpPr>
          <p:cNvPr id="280" name="Google Shape;280;p3"/>
          <p:cNvSpPr txBox="1">
            <a:spLocks noGrp="1"/>
          </p:cNvSpPr>
          <p:nvPr>
            <p:ph type="body" idx="2"/>
          </p:nvPr>
        </p:nvSpPr>
        <p:spPr>
          <a:xfrm>
            <a:off x="1353312" y="2240280"/>
            <a:ext cx="98755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4 / The same four steps, two dialects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d5d6240d7_0_32"/>
          <p:cNvSpPr/>
          <p:nvPr/>
        </p:nvSpPr>
        <p:spPr>
          <a:xfrm>
            <a:off x="63272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dd5d6240d7_0_32"/>
          <p:cNvSpPr/>
          <p:nvPr/>
        </p:nvSpPr>
        <p:spPr>
          <a:xfrm>
            <a:off x="5540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dd5d6240d7_0_32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Read these side by side</a:t>
            </a:r>
          </a:p>
        </p:txBody>
      </p:sp>
      <p:sp>
        <p:nvSpPr>
          <p:cNvPr id="224" name="Google Shape;224;g2dd5d6240d7_0_32"/>
          <p:cNvSpPr txBox="1"/>
          <p:nvPr/>
        </p:nvSpPr>
        <p:spPr>
          <a:xfrm>
            <a:off x="777240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Windows / IOCP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2dd5d6240d7_0_32"/>
          <p:cNvSpPr txBox="1"/>
          <p:nvPr/>
        </p:nvSpPr>
        <p:spPr>
          <a:xfrm>
            <a:off x="777240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op.h = h;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267F99"/>
                </a:solidFill>
                <a:latin typeface="Courier New"/>
                <a:ea typeface="Montserrat"/>
                <a:cs typeface="Courier New"/>
                <a:sym typeface="Montserrat"/>
              </a:rPr>
              <a:t>WSABUF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wb{len, buf};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267F99"/>
                </a:solidFill>
                <a:latin typeface="Courier New"/>
                <a:ea typeface="Montserrat"/>
                <a:cs typeface="Courier New"/>
                <a:sym typeface="Montserrat"/>
              </a:rPr>
              <a:t>DWORD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flags = </a:t>
            </a:r>
            <a:r>
              <a:rPr lang="en-US" sz="1300" b="0" i="0" u="none" strike="noStrike" cap="none">
                <a:solidFill>
                  <a:srgbClr val="098658"/>
                </a:solidFill>
                <a:latin typeface="Courier New"/>
                <a:ea typeface="Montserrat"/>
                <a:cs typeface="Courier New"/>
                <a:sym typeface="Montserrat"/>
              </a:rPr>
              <a:t>0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int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r = </a:t>
            </a: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WSARecv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s, &amp;wb, </a:t>
            </a:r>
            <a:r>
              <a:rPr lang="en-US" sz="1300" b="0" i="0" u="none" strike="noStrike" cap="none">
                <a:solidFill>
                  <a:srgbClr val="098658"/>
                </a:solidFill>
                <a:latin typeface="Courier New"/>
                <a:ea typeface="Montserrat"/>
                <a:cs typeface="Courier New"/>
                <a:sym typeface="Montserrat"/>
              </a:rPr>
              <a:t>1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 </a:t>
            </a: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nullptr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&amp;flags,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&amp;op.ov,   </a:t>
            </a: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find us here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</a:t>
            </a: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nullptr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);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return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true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;   </a:t>
            </a: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suspended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2dd5d6240d7_0_32"/>
          <p:cNvSpPr txBox="1"/>
          <p:nvPr/>
        </p:nvSpPr>
        <p:spPr>
          <a:xfrm>
            <a:off x="6547104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Linux / io_uring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g2dd5d6240d7_0_32"/>
          <p:cNvSpPr txBox="1"/>
          <p:nvPr/>
        </p:nvSpPr>
        <p:spPr>
          <a:xfrm>
            <a:off x="6547104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op.h = h;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sqe = </a:t>
            </a: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io_uring_get_sqe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(ring);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io_uring_prep_recv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sqe, s, buf, len, </a:t>
            </a:r>
            <a:r>
              <a:rPr lang="en-US" sz="1300" b="0" i="0" u="none" strike="noStrike" cap="none">
                <a:solidFill>
                  <a:srgbClr val="098658"/>
                </a:solidFill>
                <a:latin typeface="Courier New"/>
                <a:ea typeface="Montserrat"/>
                <a:cs typeface="Courier New"/>
                <a:sym typeface="Montserrat"/>
              </a:rPr>
              <a:t>0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);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io_uring_sqe_set_data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sqe, &amp;op);  </a:t>
            </a: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find us here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io_uring_submit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(ring);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return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true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;   </a:t>
            </a: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suspended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dd5d6240d7_0_19"/>
          <p:cNvSpPr/>
          <p:nvPr/>
        </p:nvSpPr>
        <p:spPr>
          <a:xfrm>
            <a:off x="3387950" y="1448250"/>
            <a:ext cx="2439300" cy="41103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2dd5d6240d7_0_19"/>
          <p:cNvSpPr/>
          <p:nvPr/>
        </p:nvSpPr>
        <p:spPr>
          <a:xfrm>
            <a:off x="9043700" y="1448250"/>
            <a:ext cx="2439300" cy="41103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2dd5d6240d7_0_19"/>
          <p:cNvSpPr/>
          <p:nvPr/>
        </p:nvSpPr>
        <p:spPr>
          <a:xfrm>
            <a:off x="6215825" y="1448250"/>
            <a:ext cx="2439300" cy="41103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2dd5d6240d7_0_19"/>
          <p:cNvSpPr/>
          <p:nvPr/>
        </p:nvSpPr>
        <p:spPr>
          <a:xfrm>
            <a:off x="554075" y="1448250"/>
            <a:ext cx="2445300" cy="41103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2dd5d6240d7_0_19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Four steps, every time</a:t>
            </a:r>
          </a:p>
        </p:txBody>
      </p:sp>
      <p:sp>
        <p:nvSpPr>
          <p:cNvPr id="237" name="Google Shape;237;g2dd5d6240d7_0_19"/>
          <p:cNvSpPr txBox="1"/>
          <p:nvPr/>
        </p:nvSpPr>
        <p:spPr>
          <a:xfrm>
            <a:off x="731520" y="14813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1 / Remember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g2dd5d6240d7_0_19"/>
          <p:cNvSpPr txBox="1"/>
          <p:nvPr/>
        </p:nvSpPr>
        <p:spPr>
          <a:xfrm>
            <a:off x="731520" y="2011680"/>
            <a:ext cx="21031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Store the coroutine_handle somewhere the completion can reach it.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op.h = h;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g2dd5d6240d7_0_19"/>
          <p:cNvSpPr txBox="1"/>
          <p:nvPr/>
        </p:nvSpPr>
        <p:spPr>
          <a:xfrm>
            <a:off x="3566160" y="14813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2 / Leave a trail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g2dd5d6240d7_0_19"/>
          <p:cNvSpPr txBox="1"/>
          <p:nvPr/>
        </p:nvSpPr>
        <p:spPr>
          <a:xfrm>
            <a:off x="3566160" y="2011680"/>
            <a:ext cx="21031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Point the kernel back at your handle, before it has the work.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OVERLAPPED on Windows, SQE user data on Linux. Same idea.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g2dd5d6240d7_0_19"/>
          <p:cNvSpPr txBox="1"/>
          <p:nvPr/>
        </p:nvSpPr>
        <p:spPr>
          <a:xfrm>
            <a:off x="6391656" y="14813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3 / Hand over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g2dd5d6240d7_0_19"/>
          <p:cNvSpPr txBox="1"/>
          <p:nvPr/>
        </p:nvSpPr>
        <p:spPr>
          <a:xfrm>
            <a:off x="6391656" y="2011680"/>
            <a:ext cx="21031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Give the kernel the whole operation: socket, buffer, length.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It owns the work, and your buffer, now.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g2dd5d6240d7_0_19"/>
          <p:cNvSpPr txBox="1"/>
          <p:nvPr/>
        </p:nvSpPr>
        <p:spPr>
          <a:xfrm>
            <a:off x="9217152" y="14813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4 / Suspend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g2dd5d6240d7_0_19"/>
          <p:cNvSpPr txBox="1"/>
          <p:nvPr/>
        </p:nvSpPr>
        <p:spPr>
          <a:xfrm>
            <a:off x="9217152" y="2011680"/>
            <a:ext cx="21031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Return true and stop running.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The completion event resumes you. Your handler never sees the event loop.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d5d6240d7_0_32"/>
          <p:cNvSpPr/>
          <p:nvPr/>
        </p:nvSpPr>
        <p:spPr>
          <a:xfrm>
            <a:off x="63272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dd5d6240d7_0_32"/>
          <p:cNvSpPr/>
          <p:nvPr/>
        </p:nvSpPr>
        <p:spPr>
          <a:xfrm>
            <a:off x="5540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dd5d6240d7_0_32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Where readiness differs</a:t>
            </a:r>
          </a:p>
        </p:txBody>
      </p:sp>
      <p:sp>
        <p:nvSpPr>
          <p:cNvPr id="224" name="Google Shape;224;g2dd5d6240d7_0_32"/>
          <p:cNvSpPr txBox="1"/>
          <p:nvPr/>
        </p:nvSpPr>
        <p:spPr>
          <a:xfrm>
            <a:off x="777240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Linux / epoll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2dd5d6240d7_0_32"/>
          <p:cNvSpPr txBox="1"/>
          <p:nvPr/>
        </p:nvSpPr>
        <p:spPr>
          <a:xfrm>
            <a:off x="777240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await_suspend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op.h = h;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267F99"/>
                </a:solidFill>
                <a:latin typeface="Courier New"/>
                <a:ea typeface="Montserrat"/>
                <a:cs typeface="Courier New"/>
                <a:sym typeface="Montserrat"/>
              </a:rPr>
              <a:t>epoll_event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ev{};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ev.events = </a:t>
            </a:r>
            <a:r>
              <a:rPr lang="en-US" sz="1300" b="0" i="0" u="none" strike="noStrike" cap="none">
                <a:solidFill>
                  <a:srgbClr val="0070C1"/>
                </a:solidFill>
                <a:latin typeface="Courier New"/>
                <a:ea typeface="Montserrat"/>
                <a:cs typeface="Courier New"/>
                <a:sym typeface="Montserrat"/>
              </a:rPr>
              <a:t>EPOLLIN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| </a:t>
            </a:r>
            <a:r>
              <a:rPr lang="en-US" sz="1300" b="0" i="0" u="none" strike="noStrike" cap="none">
                <a:solidFill>
                  <a:srgbClr val="0070C1"/>
                </a:solidFill>
                <a:latin typeface="Courier New"/>
                <a:ea typeface="Montserrat"/>
                <a:cs typeface="Courier New"/>
                <a:sym typeface="Montserrat"/>
              </a:rPr>
              <a:t>EPOLLONESHOT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ev.data.ptr = &amp;op;   </a:t>
            </a: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find us here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epoll_ctl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(ep, </a:t>
            </a:r>
            <a:r>
              <a:rPr lang="en-US" sz="1300" b="0" i="0" u="none" strike="noStrike" cap="none">
                <a:solidFill>
                  <a:srgbClr val="0070C1"/>
                </a:solidFill>
                <a:latin typeface="Courier New"/>
                <a:ea typeface="Montserrat"/>
                <a:cs typeface="Courier New"/>
                <a:sym typeface="Montserrat"/>
              </a:rPr>
              <a:t>EPOLL_CTL_MOD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      s, &amp;ev);   </a:t>
            </a: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re-arm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return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true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;   </a:t>
            </a: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suspended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await_resume: the I/O is here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return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::</a:t>
            </a: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recv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(s, buf, len, </a:t>
            </a:r>
            <a:r>
              <a:rPr lang="en-US" sz="1300" b="0" i="0" u="none" strike="noStrike" cap="none">
                <a:solidFill>
                  <a:srgbClr val="098658"/>
                </a:solidFill>
                <a:latin typeface="Courier New"/>
                <a:ea typeface="Montserrat"/>
                <a:cs typeface="Courier New"/>
                <a:sym typeface="Montserrat"/>
              </a:rPr>
              <a:t>0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);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2dd5d6240d7_0_32"/>
          <p:cNvSpPr txBox="1"/>
          <p:nvPr/>
        </p:nvSpPr>
        <p:spPr>
          <a:xfrm>
            <a:off x="6547104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macOS, BSD / kqueue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g2dd5d6240d7_0_32"/>
          <p:cNvSpPr txBox="1"/>
          <p:nvPr/>
        </p:nvSpPr>
        <p:spPr>
          <a:xfrm>
            <a:off x="6547104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await_suspend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op.h = h;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struct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300" b="0" i="0" u="none" strike="noStrike" cap="none">
                <a:solidFill>
                  <a:srgbClr val="267F99"/>
                </a:solidFill>
                <a:latin typeface="Courier New"/>
                <a:ea typeface="Montserrat"/>
                <a:cs typeface="Courier New"/>
                <a:sym typeface="Montserrat"/>
              </a:rPr>
              <a:t>kevent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ev;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EV_SET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(&amp;ev, s, </a:t>
            </a:r>
            <a:r>
              <a:rPr lang="en-US" sz="1300" b="0" i="0" u="none" strike="noStrike" cap="none">
                <a:solidFill>
                  <a:srgbClr val="0070C1"/>
                </a:solidFill>
                <a:latin typeface="Courier New"/>
                <a:ea typeface="Montserrat"/>
                <a:cs typeface="Courier New"/>
                <a:sym typeface="Montserrat"/>
              </a:rPr>
              <a:t>EVFILT_READ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   </a:t>
            </a:r>
            <a:r>
              <a:rPr lang="en-US" sz="1300" b="0" i="0" u="none" strike="noStrike" cap="none">
                <a:solidFill>
                  <a:srgbClr val="0070C1"/>
                </a:solidFill>
                <a:latin typeface="Courier New"/>
                <a:ea typeface="Montserrat"/>
                <a:cs typeface="Courier New"/>
                <a:sym typeface="Montserrat"/>
              </a:rPr>
              <a:t>EV_ADD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| </a:t>
            </a:r>
            <a:r>
              <a:rPr lang="en-US" sz="1300" b="0" i="0" u="none" strike="noStrike" cap="none">
                <a:solidFill>
                  <a:srgbClr val="0070C1"/>
                </a:solidFill>
                <a:latin typeface="Courier New"/>
                <a:ea typeface="Montserrat"/>
                <a:cs typeface="Courier New"/>
                <a:sym typeface="Montserrat"/>
              </a:rPr>
              <a:t>EV_ONESHOT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      </a:t>
            </a:r>
            <a:r>
              <a:rPr lang="en-US" sz="1300" b="0" i="0" u="none" strike="noStrike" cap="none">
                <a:solidFill>
                  <a:srgbClr val="098658"/>
                </a:solidFill>
                <a:latin typeface="Courier New"/>
                <a:ea typeface="Montserrat"/>
                <a:cs typeface="Courier New"/>
                <a:sym typeface="Montserrat"/>
              </a:rPr>
              <a:t>0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 </a:t>
            </a:r>
            <a:r>
              <a:rPr lang="en-US" sz="1300" b="0" i="0" u="none" strike="noStrike" cap="none">
                <a:solidFill>
                  <a:srgbClr val="098658"/>
                </a:solidFill>
                <a:latin typeface="Courier New"/>
                <a:ea typeface="Montserrat"/>
                <a:cs typeface="Courier New"/>
                <a:sym typeface="Montserrat"/>
              </a:rPr>
              <a:t>0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 &amp;op);   </a:t>
            </a: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find us here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kevent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(kq, &amp;ev, </a:t>
            </a:r>
            <a:r>
              <a:rPr lang="en-US" sz="1300" b="0" i="0" u="none" strike="noStrike" cap="none">
                <a:solidFill>
                  <a:srgbClr val="098658"/>
                </a:solidFill>
                <a:latin typeface="Courier New"/>
                <a:ea typeface="Montserrat"/>
                <a:cs typeface="Courier New"/>
                <a:sym typeface="Montserrat"/>
              </a:rPr>
              <a:t>1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 </a:t>
            </a: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nullptr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 </a:t>
            </a:r>
            <a:r>
              <a:rPr lang="en-US" sz="1300" b="0" i="0" u="none" strike="noStrike" cap="none">
                <a:solidFill>
                  <a:srgbClr val="098658"/>
                </a:solidFill>
                <a:latin typeface="Courier New"/>
                <a:ea typeface="Montserrat"/>
                <a:cs typeface="Courier New"/>
                <a:sym typeface="Montserrat"/>
              </a:rPr>
              <a:t>0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, </a:t>
            </a: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nullptr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);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return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</a:t>
            </a: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true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;   </a:t>
            </a: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suspended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await_resume: the I/O is here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return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::</a:t>
            </a: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recv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(s, buf, len, </a:t>
            </a:r>
            <a:r>
              <a:rPr lang="en-US" sz="1300" b="0" i="0" u="none" strike="noStrike" cap="none">
                <a:solidFill>
                  <a:srgbClr val="098658"/>
                </a:solidFill>
                <a:latin typeface="Courier New"/>
                <a:ea typeface="Montserrat"/>
                <a:cs typeface="Courier New"/>
                <a:sym typeface="Montserrat"/>
              </a:rPr>
              <a:t>0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);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d5d6240d7_0_32"/>
          <p:cNvSpPr/>
          <p:nvPr/>
        </p:nvSpPr>
        <p:spPr>
          <a:xfrm>
            <a:off x="63272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dd5d6240d7_0_32"/>
          <p:cNvSpPr/>
          <p:nvPr/>
        </p:nvSpPr>
        <p:spPr>
          <a:xfrm>
            <a:off x="5540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dd5d6240d7_0_32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How the wrapper breaks</a:t>
            </a:r>
          </a:p>
        </p:txBody>
      </p:sp>
      <p:sp>
        <p:nvSpPr>
          <p:cNvPr id="224" name="Google Shape;224;g2dd5d6240d7_0_32"/>
          <p:cNvSpPr txBox="1"/>
          <p:nvPr/>
        </p:nvSpPr>
        <p:spPr>
          <a:xfrm>
            <a:off x="777240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One line, to save memory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2dd5d6240d7_0_32"/>
          <p:cNvSpPr txBox="1"/>
          <p:nvPr/>
        </p:nvSpPr>
        <p:spPr>
          <a:xfrm>
            <a:off x="777240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echo.cpp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char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 buf[kBufSize];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naive.cpp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FF"/>
                </a:solidFill>
                <a:latin typeface="Courier New"/>
                <a:ea typeface="Montserrat"/>
                <a:cs typeface="Courier New"/>
                <a:sym typeface="Montserrat"/>
              </a:rPr>
              <a:t>char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* buf = pool.</a:t>
            </a:r>
            <a:r>
              <a:rPr lang="en-US" sz="1300" b="0" i="0" u="none" strike="noStrike" cap="none">
                <a:solidFill>
                  <a:srgbClr val="795E26"/>
                </a:solidFill>
                <a:latin typeface="Courier New"/>
                <a:ea typeface="Montserrat"/>
                <a:cs typeface="Courier New"/>
                <a:sym typeface="Montserrat"/>
              </a:rPr>
              <a:t>lend</a:t>
            </a:r>
            <a:r>
              <a:rPr lang="en-US" sz="1300" b="0" i="0" u="none" strike="noStrike" cap="none">
                <a:solidFill>
                  <a:srgbClr val="1E1E1E"/>
                </a:solidFill>
                <a:latin typeface="Courier New"/>
                <a:ea typeface="Montserrat"/>
                <a:cs typeface="Courier New"/>
                <a:sym typeface="Montserrat"/>
              </a:rPr>
              <a:t>();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the readiness assumption: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8000"/>
                </a:solidFill>
                <a:latin typeface="Courier New"/>
                <a:ea typeface="Montserrat"/>
                <a:cs typeface="Courier New"/>
                <a:sym typeface="Montserrat"/>
              </a:rPr>
              <a:t>// free again once we return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2dd5d6240d7_0_32"/>
          <p:cNvSpPr txBox="1"/>
          <p:nvPr/>
        </p:nvSpPr>
        <p:spPr>
          <a:xfrm>
            <a:off x="6547104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Under load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g2dd5d6240d7_0_32"/>
          <p:cNvSpPr txBox="1"/>
          <p:nvPr/>
        </p:nvSpPr>
        <p:spPr>
          <a:xfrm>
            <a:off x="6547104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One client: each receive finishes before anyone else wants the buffer. Every test passes.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A hundred idle clients: a hundred receives in flight, fifty per buffer. The kernel writes each arrival into memory another connection is about to send from.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Nothing crashes. Clients just get each other's bytes.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ticker_emoji">
            <a:extLst>
              <a:ext uri="{FF2B5EF4-FFF2-40B4-BE49-F238E27FC236}">
                <a16:creationId xmlns:a16="http://schemas.microsoft.com/office/drawing/2014/main" id="{B9E4C39D-386B-D571-41F6-ACA2B45914D0}"/>
              </a:ext>
            </a:extLst>
          </p:cNvPr>
          <p:cNvSpPr txBox="1"/>
          <p:nvPr/>
        </p:nvSpPr>
        <p:spPr>
          <a:xfrm>
            <a:off x="6540500" y="4089400"/>
            <a:ext cx="1066800" cy="1066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bg-BG" sz="5600"/>
              <a:t>🔥</a:t>
            </a:r>
          </a:p>
        </p:txBody>
      </p:sp>
      <p:sp>
        <p:nvSpPr>
          <p:cNvPr id="3" name="sticker_caption">
            <a:extLst>
              <a:ext uri="{FF2B5EF4-FFF2-40B4-BE49-F238E27FC236}">
                <a16:creationId xmlns:a16="http://schemas.microsoft.com/office/drawing/2014/main" id="{1D3E1ECB-1394-8479-69C2-FE046ADAA5A1}"/>
              </a:ext>
            </a:extLst>
          </p:cNvPr>
          <p:cNvSpPr txBox="1"/>
          <p:nvPr/>
        </p:nvSpPr>
        <p:spPr>
          <a:xfrm>
            <a:off x="7620000" y="4381500"/>
            <a:ext cx="279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800" i="1">
                <a:solidFill>
                  <a:srgbClr val="404040"/>
                </a:solidFill>
                <a:latin typeface="Montserrat" panose="00000500000000000000" pitchFamily="2" charset="0"/>
              </a:rPr>
              <a:t>this is fine</a:t>
            </a:r>
            <a:endParaRPr lang="bg-BG" sz="1800" i="1">
              <a:solidFill>
                <a:srgbClr val="404040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d5d6240d7_0_116"/>
          <p:cNvSpPr/>
          <p:nvPr/>
        </p:nvSpPr>
        <p:spPr>
          <a:xfrm>
            <a:off x="621975" y="1090775"/>
            <a:ext cx="10917900" cy="4594500"/>
          </a:xfrm>
          <a:prstGeom prst="roundRect">
            <a:avLst>
              <a:gd name="adj" fmla="val 183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dd5d6240d7_0_116"/>
          <p:cNvSpPr txBox="1"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char buf[kBufSize]; is an ordinary local.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It lives in the frame, so it is alive for exactly as long as the operation is. The buffer-lifetime problem does not get solved. It stops existing.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One condition: the frame must outlive the operation. That is why cancellation, next, is the hard part.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d5d6240d7_0_32"/>
          <p:cNvSpPr/>
          <p:nvPr/>
        </p:nvSpPr>
        <p:spPr>
          <a:xfrm>
            <a:off x="63272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dd5d6240d7_0_32"/>
          <p:cNvSpPr/>
          <p:nvPr/>
        </p:nvSpPr>
        <p:spPr>
          <a:xfrm>
            <a:off x="5540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dd5d6240d7_0_32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What still does not abstract</a:t>
            </a:r>
          </a:p>
        </p:txBody>
      </p:sp>
      <p:sp>
        <p:nvSpPr>
          <p:cNvPr id="224" name="Google Shape;224;g2dd5d6240d7_0_32"/>
          <p:cNvSpPr txBox="1"/>
          <p:nvPr/>
        </p:nvSpPr>
        <p:spPr>
          <a:xfrm>
            <a:off x="777240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Cancellation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2dd5d6240d7_0_32"/>
          <p:cNvSpPr txBox="1"/>
          <p:nvPr/>
        </p:nvSpPr>
        <p:spPr>
          <a:xfrm>
            <a:off x="777240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Four kernels, three stories.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CancelIoEx, IORING_OP_ASYNC_CANCEL, and on the readiness side simply not making the call.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There is no shared shape to hide behind.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2dd5d6240d7_0_32"/>
          <p:cNvSpPr txBox="1"/>
          <p:nvPr/>
        </p:nvSpPr>
        <p:spPr>
          <a:xfrm>
            <a:off x="6547104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Error surfaces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g2dd5d6240d7_0_32"/>
          <p:cNvSpPr txBox="1"/>
          <p:nvPr/>
        </p:nvSpPr>
        <p:spPr>
          <a:xfrm>
            <a:off x="6547104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WSAGetLastError, errno, and a negative cqe-&gt;res.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Three vocabularies mapped onto one enum, by hand, and the mapping is where the bugs live.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"/>
          <p:cNvSpPr txBox="1">
            <a:spLocks noGrp="1"/>
          </p:cNvSpPr>
          <p:nvPr>
            <p:ph type="body" idx="1"/>
          </p:nvPr>
        </p:nvSpPr>
        <p:spPr>
          <a:xfrm>
            <a:off x="1362456" y="137160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Who resumes the coroutine?</a:t>
            </a:r>
          </a:p>
        </p:txBody>
      </p:sp>
      <p:sp>
        <p:nvSpPr>
          <p:cNvPr id="280" name="Google Shape;280;p3"/>
          <p:cNvSpPr txBox="1">
            <a:spLocks noGrp="1"/>
          </p:cNvSpPr>
          <p:nvPr>
            <p:ph type="body" idx="2"/>
          </p:nvPr>
        </p:nvSpPr>
        <p:spPr>
          <a:xfrm>
            <a:off x="1353312" y="2240280"/>
            <a:ext cx="98755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5 / Scheduling, and what it costs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d5d6240d7_0_32"/>
          <p:cNvSpPr/>
          <p:nvPr/>
        </p:nvSpPr>
        <p:spPr>
          <a:xfrm>
            <a:off x="63272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dd5d6240d7_0_32"/>
          <p:cNvSpPr/>
          <p:nvPr/>
        </p:nvSpPr>
        <p:spPr>
          <a:xfrm>
            <a:off x="5540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dd5d6240d7_0_32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Two defensible answers</a:t>
            </a:r>
          </a:p>
        </p:txBody>
      </p:sp>
      <p:sp>
        <p:nvSpPr>
          <p:cNvPr id="224" name="Google Shape;224;g2dd5d6240d7_0_32"/>
          <p:cNvSpPr txBox="1"/>
          <p:nvPr/>
        </p:nvSpPr>
        <p:spPr>
          <a:xfrm>
            <a:off x="777240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On the completion thread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2dd5d6240d7_0_32"/>
          <p:cNvSpPr txBox="1"/>
          <p:nvPr/>
        </p:nvSpPr>
        <p:spPr>
          <a:xfrm>
            <a:off x="777240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Lowest latency. Best cache locality: the data is warm and you are already there.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One slow handler stalls every completion queued behind it.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2dd5d6240d7_0_32"/>
          <p:cNvSpPr txBox="1"/>
          <p:nvPr/>
        </p:nvSpPr>
        <p:spPr>
          <a:xfrm>
            <a:off x="6547104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Hand off to a pool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g2dd5d6240d7_0_32"/>
          <p:cNvSpPr txBox="1"/>
          <p:nvPr/>
        </p:nvSpPr>
        <p:spPr>
          <a:xfrm>
            <a:off x="6547104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Isolation and parallelism.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Paid for with a queue hop and a cache miss per operation.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The queue between them is usually where the throughput goes. Instrument it first.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"/>
          <p:cNvSpPr txBox="1">
            <a:spLocks noGrp="1"/>
          </p:cNvSpPr>
          <p:nvPr>
            <p:ph type="body" idx="1"/>
          </p:nvPr>
        </p:nvSpPr>
        <p:spPr>
          <a:xfrm>
            <a:off x="1362456" y="137160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Demo</a:t>
            </a:r>
          </a:p>
        </p:txBody>
      </p:sp>
      <p:sp>
        <p:nvSpPr>
          <p:cNvPr id="280" name="Google Shape;280;p3"/>
          <p:cNvSpPr txBox="1">
            <a:spLocks noGrp="1"/>
          </p:cNvSpPr>
          <p:nvPr>
            <p:ph type="body" idx="2"/>
          </p:nvPr>
        </p:nvSpPr>
        <p:spPr>
          <a:xfrm>
            <a:off x="1353312" y="2240280"/>
            <a:ext cx="98755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6 / One source, Windows and Linux</a:t>
            </a:r>
          </a:p>
        </p:txBody>
      </p:sp>
      <p:sp>
        <p:nvSpPr>
          <p:cNvPr id="2" name="sticker_emoji">
            <a:extLst>
              <a:ext uri="{FF2B5EF4-FFF2-40B4-BE49-F238E27FC236}">
                <a16:creationId xmlns:a16="http://schemas.microsoft.com/office/drawing/2014/main" id="{45FBB6A8-26C4-4EEE-B931-D5A30694B404}"/>
              </a:ext>
            </a:extLst>
          </p:cNvPr>
          <p:cNvSpPr txBox="1"/>
          <p:nvPr/>
        </p:nvSpPr>
        <p:spPr>
          <a:xfrm>
            <a:off x="7747000" y="2032000"/>
            <a:ext cx="2857500" cy="2857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bg-BG" sz="15000"/>
              <a:t>🤞</a:t>
            </a:r>
          </a:p>
        </p:txBody>
      </p:sp>
      <p:sp>
        <p:nvSpPr>
          <p:cNvPr id="3" name="sticker_caption">
            <a:extLst>
              <a:ext uri="{FF2B5EF4-FFF2-40B4-BE49-F238E27FC236}">
                <a16:creationId xmlns:a16="http://schemas.microsoft.com/office/drawing/2014/main" id="{2927AF0A-4D62-5822-DC8A-39E4126EC3B6}"/>
              </a:ext>
            </a:extLst>
          </p:cNvPr>
          <p:cNvSpPr txBox="1"/>
          <p:nvPr/>
        </p:nvSpPr>
        <p:spPr>
          <a:xfrm>
            <a:off x="1358900" y="3111500"/>
            <a:ext cx="584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800" i="1">
                <a:solidFill>
                  <a:srgbClr val="FFFFFF"/>
                </a:solidFill>
                <a:latin typeface="Montserrat" panose="00000500000000000000" pitchFamily="2" charset="0"/>
              </a:rPr>
              <a:t>Live. What could possibly go wrong?</a:t>
            </a:r>
            <a:endParaRPr lang="bg-BG" sz="1800" i="1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d5d6240d7_0_116"/>
          <p:cNvSpPr/>
          <p:nvPr/>
        </p:nvSpPr>
        <p:spPr>
          <a:xfrm>
            <a:off x="621975" y="1090775"/>
            <a:ext cx="10917900" cy="4594500"/>
          </a:xfrm>
          <a:prstGeom prst="roundRect">
            <a:avLst>
              <a:gd name="adj" fmla="val 183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dd5d6240d7_0_116"/>
          <p:cNvSpPr txBox="1"/>
          <p:nvPr/>
        </p:nvSpPr>
        <p:spPr>
          <a:xfrm>
            <a:off x="1280160" y="201168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echo.cpp has no #ifdef in it at all.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Every platform difference lives in io.hpp. --trace shows the thread change while the buffer stays put.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naive.cpp: the same handler, one line changed. One client: it passes. A hundred: they get each other's bytes.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"/>
          <p:cNvSpPr txBox="1">
            <a:spLocks noGrp="1"/>
          </p:cNvSpPr>
          <p:nvPr>
            <p:ph type="body" idx="1"/>
          </p:nvPr>
        </p:nvSpPr>
        <p:spPr>
          <a:xfrm>
            <a:off x="1362456" y="137160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Pitfalls</a:t>
            </a:r>
          </a:p>
        </p:txBody>
      </p:sp>
      <p:sp>
        <p:nvSpPr>
          <p:cNvPr id="280" name="Google Shape;280;p3"/>
          <p:cNvSpPr txBox="1">
            <a:spLocks noGrp="1"/>
          </p:cNvSpPr>
          <p:nvPr>
            <p:ph type="body" idx="2"/>
          </p:nvPr>
        </p:nvSpPr>
        <p:spPr>
          <a:xfrm>
            <a:off x="1353312" y="2240280"/>
            <a:ext cx="987552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>7 / Four that cost people days</a:t>
            </a:r>
          </a:p>
        </p:txBody>
      </p:sp>
      <p:sp>
        <p:nvSpPr>
          <p:cNvPr id="2" name="sticker_emoji">
            <a:extLst>
              <a:ext uri="{FF2B5EF4-FFF2-40B4-BE49-F238E27FC236}">
                <a16:creationId xmlns:a16="http://schemas.microsoft.com/office/drawing/2014/main" id="{D081F080-2702-5FF5-577C-DF73E02AF93F}"/>
              </a:ext>
            </a:extLst>
          </p:cNvPr>
          <p:cNvSpPr txBox="1"/>
          <p:nvPr/>
        </p:nvSpPr>
        <p:spPr>
          <a:xfrm>
            <a:off x="7747000" y="2032000"/>
            <a:ext cx="2857500" cy="2857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bg-BG" sz="15000"/>
              <a:t>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dd5d6240d7_0_19"/>
          <p:cNvSpPr/>
          <p:nvPr/>
        </p:nvSpPr>
        <p:spPr>
          <a:xfrm>
            <a:off x="3387950" y="1448250"/>
            <a:ext cx="2439300" cy="41103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2dd5d6240d7_0_19"/>
          <p:cNvSpPr/>
          <p:nvPr/>
        </p:nvSpPr>
        <p:spPr>
          <a:xfrm>
            <a:off x="9043700" y="1448250"/>
            <a:ext cx="2439300" cy="41103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2dd5d6240d7_0_19"/>
          <p:cNvSpPr/>
          <p:nvPr/>
        </p:nvSpPr>
        <p:spPr>
          <a:xfrm>
            <a:off x="6215825" y="1448250"/>
            <a:ext cx="2439300" cy="41103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2dd5d6240d7_0_19"/>
          <p:cNvSpPr/>
          <p:nvPr/>
        </p:nvSpPr>
        <p:spPr>
          <a:xfrm>
            <a:off x="554075" y="1448250"/>
            <a:ext cx="2445300" cy="4110300"/>
          </a:xfrm>
          <a:prstGeom prst="roundRect">
            <a:avLst>
              <a:gd name="adj" fmla="val 3640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2dd5d6240d7_0_19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Four that cost people days</a:t>
            </a:r>
          </a:p>
        </p:txBody>
      </p:sp>
      <p:sp>
        <p:nvSpPr>
          <p:cNvPr id="237" name="Google Shape;237;g2dd5d6240d7_0_19"/>
          <p:cNvSpPr txBox="1"/>
          <p:nvPr/>
        </p:nvSpPr>
        <p:spPr>
          <a:xfrm>
            <a:off x="731520" y="14813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Dangling buffers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g2dd5d6240d7_0_19"/>
          <p:cNvSpPr txBox="1"/>
          <p:nvPr/>
        </p:nvSpPr>
        <p:spPr>
          <a:xfrm>
            <a:off x="731520" y="2011680"/>
            <a:ext cx="21031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Someone helpfully hoists the buffer out of the frame into a caller.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Now it dies while the kernel is still writing to it.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g2dd5d6240d7_0_19"/>
          <p:cNvSpPr txBox="1"/>
          <p:nvPr/>
        </p:nvSpPr>
        <p:spPr>
          <a:xfrm>
            <a:off x="3566160" y="14813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Exceptions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g2dd5d6240d7_0_19"/>
          <p:cNvSpPr txBox="1"/>
          <p:nvPr/>
        </p:nvSpPr>
        <p:spPr>
          <a:xfrm>
            <a:off x="3566160" y="2011680"/>
            <a:ext cx="21031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A throw across the suspend boundary does not land where your instincts say.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Decide the policy before you need it.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g2dd5d6240d7_0_19"/>
          <p:cNvSpPr txBox="1"/>
          <p:nvPr/>
        </p:nvSpPr>
        <p:spPr>
          <a:xfrm>
            <a:off x="6391656" y="14813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The wrong thread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g2dd5d6240d7_0_19"/>
          <p:cNvSpPr txBox="1"/>
          <p:nvPr/>
        </p:nvSpPr>
        <p:spPr>
          <a:xfrm>
            <a:off x="6391656" y="2011680"/>
            <a:ext cx="21031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You get resumed on the completion thread.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Everything your handler touches has just become concurrent, whether you planned it or not.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g2dd5d6240d7_0_19"/>
          <p:cNvSpPr txBox="1"/>
          <p:nvPr/>
        </p:nvSpPr>
        <p:spPr>
          <a:xfrm>
            <a:off x="9217152" y="148132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Measuring at 100%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g2dd5d6240d7_0_19"/>
          <p:cNvSpPr txBox="1"/>
          <p:nvPr/>
        </p:nvSpPr>
        <p:spPr>
          <a:xfrm>
            <a:off x="9217152" y="2011680"/>
            <a:ext cx="21031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Full-load benchmarks hide the idle-path overhead completely.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Measure the load you actually run at.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d5d6240d7_0_32"/>
          <p:cNvSpPr/>
          <p:nvPr/>
        </p:nvSpPr>
        <p:spPr>
          <a:xfrm>
            <a:off x="63272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dd5d6240d7_0_32"/>
          <p:cNvSpPr/>
          <p:nvPr/>
        </p:nvSpPr>
        <p:spPr>
          <a:xfrm>
            <a:off x="554075" y="1448250"/>
            <a:ext cx="5154000" cy="4110300"/>
          </a:xfrm>
          <a:prstGeom prst="roundRect">
            <a:avLst>
              <a:gd name="adj" fmla="val 258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dd5d6240d7_0_32"/>
          <p:cNvSpPr txBox="1">
            <a:spLocks noGrp="1"/>
          </p:cNvSpPr>
          <p:nvPr>
            <p:ph type="body" idx="1"/>
          </p:nvPr>
        </p:nvSpPr>
        <p:spPr>
          <a:xfrm>
            <a:off x="1627632" y="475488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None/>
            </a:pPr>
            <a:r>
              <a:t>Numbers you can trust</a:t>
            </a:r>
          </a:p>
        </p:txBody>
      </p:sp>
      <p:sp>
        <p:nvSpPr>
          <p:cNvPr id="224" name="Google Shape;224;g2dd5d6240d7_0_32"/>
          <p:cNvSpPr txBox="1"/>
          <p:nvPr/>
        </p:nvSpPr>
        <p:spPr>
          <a:xfrm>
            <a:off x="777240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2dd5d6240d7_0_32"/>
          <p:cNvSpPr txBox="1"/>
          <p:nvPr/>
        </p:nvSpPr>
        <p:spPr>
          <a:xfrm>
            <a:off x="777240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wrk and ab for throughput.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Percentiles, never averages. A mean latency hides exactly the tail you were hired to fix.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2dd5d6240d7_0_32"/>
          <p:cNvSpPr txBox="1"/>
          <p:nvPr/>
        </p:nvSpPr>
        <p:spPr>
          <a:xfrm>
            <a:off x="6547104" y="1481328"/>
            <a:ext cx="4709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4EFD"/>
                </a:solidFill>
                <a:latin typeface="Montserrat"/>
                <a:ea typeface="Montserrat"/>
                <a:cs typeface="Montserrat"/>
                <a:sym typeface="Montserrat"/>
              </a:rPr>
              <a:t>Always state the machine</a:t>
            </a:r>
            <a:endParaRPr sz="1800" b="1" i="0" u="none" strike="noStrike" cap="none">
              <a:solidFill>
                <a:srgbClr val="374EF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g2dd5d6240d7_0_32"/>
          <p:cNvSpPr txBox="1"/>
          <p:nvPr/>
        </p:nvSpPr>
        <p:spPr>
          <a:xfrm>
            <a:off x="6547104" y="2011680"/>
            <a:ext cx="4709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Cores, NIC, kernel version, build flags.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A requests-per-second figure with no hardware attached is decoration, not evidence.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d5d6240d7_0_116"/>
          <p:cNvSpPr/>
          <p:nvPr/>
        </p:nvSpPr>
        <p:spPr>
          <a:xfrm>
            <a:off x="621975" y="1090775"/>
            <a:ext cx="10917900" cy="4594500"/>
          </a:xfrm>
          <a:prstGeom prst="roundRect">
            <a:avLst>
              <a:gd name="adj" fmla="val 183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dd5d6240d7_0_116"/>
          <p:cNvSpPr txBox="1"/>
          <p:nvPr/>
        </p:nvSpPr>
        <p:spPr>
          <a:xfrm>
            <a:off x="1005840" y="1828800"/>
            <a:ext cx="100584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Coroute/WebFrame++, since 2017.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Unifies IOCP, io_uring and kqueue behind one coroutine API. It is also my doctorate, so I am being deliberately vague about the internals.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The published parts: TELECOM 2025, Optimizing Asynchronous Event Dispatch in Modern C++ Publish/Subscribe Systems. ICEST 2025, Modern C++ Publish/Subscribe Pattern.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d5d6240d7_0_116"/>
          <p:cNvSpPr/>
          <p:nvPr/>
        </p:nvSpPr>
        <p:spPr>
          <a:xfrm>
            <a:off x="621975" y="1090775"/>
            <a:ext cx="10917900" cy="4594500"/>
          </a:xfrm>
          <a:prstGeom prst="roundRect">
            <a:avLst>
              <a:gd name="adj" fmla="val 1833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dd5d6240d7_0_116"/>
          <p:cNvSpPr txBox="1"/>
          <p:nvPr/>
        </p:nvSpPr>
        <p:spPr>
          <a:xfrm>
            <a:off x="1280160" y="2240280"/>
            <a:ext cx="9601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Your turn.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4F4F4F"/>
                </a:solidFill>
                <a:latin typeface="Montserrat"/>
                <a:ea typeface="Montserrat"/>
                <a:cs typeface="Montserrat"/>
                <a:sym typeface="Montserrat"/>
              </a:rPr>
              <a:t>Which backend do you run in production, and who owns your buffers while it waits? Unmute, or put it in the chat.</a:t>
            </a:r>
            <a:endParaRPr sz="1400" b="0" i="0" u="none" strike="noStrike" cap="none">
              <a:solidFill>
                <a:srgbClr val="4F4F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ticker_emoji">
            <a:extLst>
              <a:ext uri="{FF2B5EF4-FFF2-40B4-BE49-F238E27FC236}">
                <a16:creationId xmlns:a16="http://schemas.microsoft.com/office/drawing/2014/main" id="{1FC4F3EC-170F-6611-E455-8528711DA41A}"/>
              </a:ext>
            </a:extLst>
          </p:cNvPr>
          <p:cNvSpPr txBox="1"/>
          <p:nvPr/>
        </p:nvSpPr>
        <p:spPr>
          <a:xfrm>
            <a:off x="5181600" y="3619500"/>
            <a:ext cx="1828800" cy="1828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bg-BG" sz="9600"/>
              <a:t>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d5d6240d7_0_47"/>
          <p:cNvSpPr txBox="1"/>
          <p:nvPr/>
        </p:nvSpPr>
        <p:spPr>
          <a:xfrm>
            <a:off x="1030908" y="2335191"/>
            <a:ext cx="151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69F1AE"/>
                </a:solidFill>
                <a:latin typeface="Montserrat"/>
                <a:ea typeface="Montserrat"/>
                <a:cs typeface="Montserrat"/>
                <a:sym typeface="Montserrat"/>
              </a:rPr>
              <a:t>Contacts:</a:t>
            </a:r>
            <a:endParaRPr sz="1800" b="1" i="0" u="none" strike="noStrike" cap="none">
              <a:solidFill>
                <a:srgbClr val="69F1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5" name="Google Shape;305;g2dd5d6240d7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6144" y="3444596"/>
            <a:ext cx="2667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g2dd5d6240d7_0_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194" y="297083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2dd5d6240d7_0_47"/>
          <p:cNvSpPr txBox="1"/>
          <p:nvPr/>
        </p:nvSpPr>
        <p:spPr>
          <a:xfrm>
            <a:off x="1472184" y="296265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linkedin.com/in/alex-tsvetanov</a:t>
            </a: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g2dd5d6240d7_0_47"/>
          <p:cNvSpPr txBox="1"/>
          <p:nvPr/>
        </p:nvSpPr>
        <p:spPr>
          <a:xfrm>
            <a:off x="1472184" y="343814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github.com/Alex-Tsvetanov</a:t>
            </a: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g2dd5d6240d7_0_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8400" y="-5"/>
            <a:ext cx="3518450" cy="1923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st maste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1538</Words>
  <Application>Microsoft Office PowerPoint</Application>
  <PresentationFormat>Widescreen</PresentationFormat>
  <Paragraphs>228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Verdana</vt:lpstr>
      <vt:lpstr>Arial</vt:lpstr>
      <vt:lpstr>Courier New</vt:lpstr>
      <vt:lpstr>Montserrat</vt:lpstr>
      <vt:lpstr>Montserrat Medium</vt:lpstr>
      <vt:lpstr>Calibri</vt:lpstr>
      <vt:lpstr>Segoe UI Emoji</vt:lpstr>
      <vt:lpstr>test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Aleks Tsvetanov</cp:lastModifiedBy>
  <cp:revision>7</cp:revision>
  <dcterms:created xsi:type="dcterms:W3CDTF">2021-04-20T07:02:23Z</dcterms:created>
  <dcterms:modified xsi:type="dcterms:W3CDTF">2026-10-28T20:25:57Z</dcterms:modified>
</cp:coreProperties>
</file>